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전국 평균가격 (원/L)</c:v>
                </c:pt>
              </c:strCache>
            </c:strRef>
          </c:tx>
          <c:spPr>
            <a:solidFill>
              <a:srgbClr val="1C2B4A"/>
            </a:solidFill>
            <a:ln w="38100" cap="flat">
              <a:solidFill>
                <a:srgbClr val="1C2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2B4A"/>
              </a:solidFill>
              <a:ln w="9525" cap="flat">
                <a:solidFill>
                  <a:srgbClr val="1C2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1606</c:v>
                </c:pt>
                <c:pt idx="1">
                  <c:v>1527</c:v>
                </c:pt>
                <c:pt idx="2">
                  <c:v>1268</c:v>
                </c:pt>
                <c:pt idx="3">
                  <c:v>1553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2021년 평균가격 (원/L)</c:v>
                </c:pt>
              </c:strCache>
            </c:strRef>
          </c:tx>
          <c:spPr>
            <a:solidFill>
              <a:srgbClr val="B58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83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68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338E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86F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알뜰(ex)</c:v>
                  </c:pt>
                  <c:pt idx="1">
                    <c:v>알뜰주유소</c:v>
                  </c:pt>
                  <c:pt idx="2">
                    <c:v>NH-OIL</c:v>
                  </c:pt>
                  <c:pt idx="3">
                    <c:v>S-OIL</c:v>
                  </c:pt>
                  <c:pt idx="4">
                    <c:v>현대오일뱅크</c:v>
                  </c:pt>
                  <c:pt idx="5">
                    <c:v>GS칼텍스</c:v>
                  </c:pt>
                  <c:pt idx="6">
                    <c:v>SK에너지</c:v>
                  </c:pt>
                  <c:pt idx="7">
                    <c:v>자가상표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1498</c:v>
                </c:pt>
                <c:pt idx="1">
                  <c:v>1512</c:v>
                </c:pt>
                <c:pt idx="2">
                  <c:v>1535</c:v>
                </c:pt>
                <c:pt idx="3">
                  <c:v>1548</c:v>
                </c:pt>
                <c:pt idx="4">
                  <c:v>1556</c:v>
                </c:pt>
                <c:pt idx="5">
                  <c:v>1561</c:v>
                </c:pt>
                <c:pt idx="6">
                  <c:v>1568</c:v>
                </c:pt>
                <c:pt idx="7">
                  <c:v>1582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4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셀프</c:v>
                </c:pt>
              </c:strCache>
            </c:strRef>
          </c:tx>
          <c:spPr>
            <a:solidFill>
              <a:srgbClr val="457B9D"/>
            </a:solidFill>
            <a:ln w="31750" cap="flat">
              <a:solidFill>
                <a:srgbClr val="457B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1595</c:v>
                </c:pt>
                <c:pt idx="1">
                  <c:v>1519</c:v>
                </c:pt>
                <c:pt idx="2">
                  <c:v>1264</c:v>
                </c:pt>
                <c:pt idx="3">
                  <c:v>1541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1618</c:v>
                </c:pt>
                <c:pt idx="1">
                  <c:v>1546</c:v>
                </c:pt>
                <c:pt idx="2">
                  <c:v>1297</c:v>
                </c:pt>
                <c:pt idx="3">
                  <c:v>1571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2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2021년 평균가격 (원/L)</c:v>
                </c:pt>
              </c:strCache>
            </c:strRef>
          </c:tx>
          <c:spPr>
            <a:solidFill>
              <a:srgbClr val="3A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대구</c:v>
                  </c:pt>
                  <c:pt idx="1">
                    <c:v>경남</c:v>
                  </c:pt>
                  <c:pt idx="2">
                    <c:v>경북</c:v>
                  </c:pt>
                  <c:pt idx="3">
                    <c:v>부산</c:v>
                  </c:pt>
                  <c:pt idx="4">
                    <c:v>울산</c:v>
                  </c:pt>
                  <c:pt idx="5">
                    <c:v>광주</c:v>
                  </c:pt>
                  <c:pt idx="6">
                    <c:v>전북</c:v>
                  </c:pt>
                  <c:pt idx="7">
                    <c:v>전남</c:v>
                  </c:pt>
                  <c:pt idx="8">
                    <c:v>경남</c:v>
                  </c:pt>
                  <c:pt idx="9">
                    <c:v>인천</c:v>
                  </c:pt>
                  <c:pt idx="10">
                    <c:v>충남</c:v>
                  </c:pt>
                  <c:pt idx="11">
                    <c:v>충북</c:v>
                  </c:pt>
                  <c:pt idx="12">
                    <c:v>세종</c:v>
                  </c:pt>
                  <c:pt idx="13">
                    <c:v>대전</c:v>
                  </c:pt>
                  <c:pt idx="14">
                    <c:v>강원</c:v>
                  </c:pt>
                  <c:pt idx="15">
                    <c:v>경기</c:v>
                  </c:pt>
                  <c:pt idx="16">
                    <c:v>제주</c:v>
                  </c:pt>
                  <c:pt idx="17">
                    <c:v>서울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1528</c:v>
                </c:pt>
                <c:pt idx="1">
                  <c:v>1543</c:v>
                </c:pt>
                <c:pt idx="2">
                  <c:v>1541</c:v>
                </c:pt>
                <c:pt idx="3">
                  <c:v>1542</c:v>
                </c:pt>
                <c:pt idx="4">
                  <c:v>1537</c:v>
                </c:pt>
                <c:pt idx="5">
                  <c:v>1548</c:v>
                </c:pt>
                <c:pt idx="6">
                  <c:v>1553</c:v>
                </c:pt>
                <c:pt idx="7">
                  <c:v>1553</c:v>
                </c:pt>
                <c:pt idx="8">
                  <c:v>1543</c:v>
                </c:pt>
                <c:pt idx="9">
                  <c:v>1559</c:v>
                </c:pt>
                <c:pt idx="10">
                  <c:v>1564</c:v>
                </c:pt>
                <c:pt idx="11">
                  <c:v>1563</c:v>
                </c:pt>
                <c:pt idx="12">
                  <c:v>1562</c:v>
                </c:pt>
                <c:pt idx="13">
                  <c:v>1560</c:v>
                </c:pt>
                <c:pt idx="14">
                  <c:v>1565</c:v>
                </c:pt>
                <c:pt idx="15">
                  <c:v>1564</c:v>
                </c:pt>
                <c:pt idx="16">
                  <c:v>1592</c:v>
                </c:pt>
                <c:pt idx="17">
                  <c:v>1641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5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E4272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FA4C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 주유소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구조 분석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457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AE0"/>
                </a:solidFill>
              </a:rPr>
              <a:t>2018–2021년 가격·브랜드·지역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8CAE0"/>
                </a:solidFill>
              </a:rPr>
              <a:t>구조 분석 보고서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3B8"/>
                </a:solidFill>
              </a:rPr>
              <a:t>June 2024  |  Strategy &amp; Analytics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320,539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DD6"/>
                </a:solidFill>
              </a:rPr>
              <a:t>분석 원시 데이터 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591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45,809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DD6"/>
                </a:solidFill>
              </a:rPr>
              <a:t>주유소-연도 단위 분석 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4747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DD6"/>
                </a:solidFill>
              </a:rPr>
              <a:t>시도 × 4개년 분석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</a:rPr>
              <a:t>Table of Contents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4416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441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분석 배경 및 SCQA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Situation · Complication · Question · Answer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24028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402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연도별 가격 동향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2018–2021 전국 평균가격 추이 및 분포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13639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363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브랜드 가격 경쟁력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ANOVA 검정 · 점유율 변화 · 가격 분포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032504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0325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셀프 vs 일반 가격 격차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t-검정 · Cohen's d · 소비자 절감 효과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234440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47488" y="134416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3441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지역별 가격 불균등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시도별 분포 · 서울·제주 프리미엄 구조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130552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47488" y="224028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2402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시도별 브랜드 세력권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Folium 지도 시각화 · 클릭 팝업 순위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026664"/>
            <a:ext cx="4023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47488" y="313639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1363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전략적 시사점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소비자 · 정유사 · 정책 입안자 관점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배경 및 SCQA 프레임워크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07008"/>
            <a:ext cx="658368" cy="658368"/>
          </a:xfrm>
          <a:prstGeom prst="ellipse">
            <a:avLst/>
          </a:prstGeom>
          <a:solidFill>
            <a:srgbClr val="3A5A8C"/>
          </a:solidFill>
          <a:ln w="12700">
            <a:solidFill>
              <a:srgbClr val="3A5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07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5A8C"/>
                </a:solidFill>
              </a:rPr>
              <a:t>Situation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전국 10,000개+ 주유소에서 매일 가격 데이터가 수집된다.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소비자와 사업자 모두 이 데이터에 민감하다.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207008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07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19933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Complication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37744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2020년 코로나19 충격으로 유가가 사상 최저를 기록했고,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브랜드·지역·셀프 여부에 따라 수백 원씩 차이난다.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207008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207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19933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37744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2018–2021년 주유소 시장에서 가격은 어떻게 변동했고,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브랜드·셀프·지역 간 가격 차이는 얼마나 구조적인가?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05156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207008"/>
            <a:ext cx="658368" cy="65836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207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9933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37744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2020년 코로나 저점 이후 전반적 반등, 서울·제주 지속 프리미엄,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알뜰주유소 일관 저가, 셀프 할인 약 28원/L 안정적 유지.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바바라 민토 SCQA 원칙 적용 — 청중이 자연스럽게 분석의 필요성을 납득하도록 유도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연도별 전국 평균 휘발유 가격 동향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02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5156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1307592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2084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2020년 역대 최저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20840" y="14356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전국 평균 1,268원/L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코로나19 수요 충격으로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4개년 중 최저 기록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228600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254203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2021년 반등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20840" y="26700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1,553원/L으로 회복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공급 회복 + 경기 반등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전년 대비 +285원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352044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377647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08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구조적 분산 유지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3904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저유가 시기에도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지역·브랜드별 격차는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구조적으로 지속됨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가격 경쟁력 및 시장 점유율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03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2E4272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ANOVA 검정 결과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F0"/>
                </a:solidFill>
              </a:rPr>
              <a:t>F-통계량 &gt; 100  →  브랜드 간 가격 차이 유의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F0"/>
                </a:solidFill>
              </a:rPr>
              <a:t>η² ≈ 0.10  →  브랜드 요인이 분산의 10% 설명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F0"/>
                </a:solidFill>
              </a:rPr>
              <a:t>p &lt; 0.001  →  통계적으로 매우 유의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260604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606040"/>
            <a:ext cx="22860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660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SK에너지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31.7%  →  27.2%  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26609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2018        2021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760720" y="3319272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3319272"/>
            <a:ext cx="22860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3374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현대오일뱅크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3621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20.1%  →  21.9%  ▲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0" y="3374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2018        2021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4032504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4032504"/>
            <a:ext cx="228600" cy="594360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4087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알뜰계열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80760" y="4334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5.2%  →  5.5%  ▲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2018        2021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셀프 vs 일반 주유소 가격 격차 분석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–28원/L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4개년 평균 셀프 할인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4C8"/>
                </a:solidFill>
              </a:rPr>
              <a:t>4년 내내 방향 역전 없음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2412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Cohen's d 효과 크기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4C8"/>
                </a:solidFill>
              </a:rPr>
              <a:t>소 효과, 통계적으로 유의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2412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~20,000원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연간 절감 추정액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4C8"/>
                </a:solidFill>
              </a:rPr>
              <a:t>720L/년 기준 소비자 절감</a:t>
            </a:r>
            <a:endParaRPr lang="en-US" sz="8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37744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943600" y="2377440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주요 해석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2834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모든 연도에서 셀프(파랑)가 일반(빨강) 아래 — 방향 역전 없음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2020년 저유가 시기에 격차가 34원으로 가장 큼 — 일반이 더 천천히 낮춤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Cohen's d ≈ 0.2는 소 효과이지만 연간 실질 절감은 약 20,000원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통계적 유의성(p값)과 실용적 유의성(효과 크기)을 함께 해석해야 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지역별 가격 불균등 구조 분석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05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EF3E2"/>
          </a:solidFill>
          <a:ln w="12700">
            <a:solidFill>
              <a:srgbClr val="F6C4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지속적 가격 프리미엄 지역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서울: 전국 평균 대비 +77원/L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26480" y="1636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제주: 전국 평균 대비 +38원/L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0" y="1883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저유가 시기에도 프리미엄 구조 유지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26480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→ 임대료·운영 비용 구조 반영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256032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분산 분해 (Variance Decomposition)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지역 간 분산 설명력 η² ≈ 0.15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2648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→ 지역 요인이 전체 분산의 15% 설명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26480" y="3456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지역 내 분산도 존재 → 입지·경쟁 요인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39776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D6E4F0"/>
          </a:solidFill>
          <a:ln w="12700">
            <a:solidFill>
              <a:srgbClr val="3A5A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지역 격차는 유가 수준과 무관하게 구조적·지속적으로 유지된다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시도별 1등 브랜드 세력권 — Folium 지도 시각화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지도 시각화 구성 요소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347472" cy="347472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6367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Choropleth 레이어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0432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시도 면적을 1등 브랜드 고유 색상으로 채움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→ 브랜드 세력권 한눈에 파악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347472" cy="347472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2414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원형 마커 + 약칭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70432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시도 중심에 브랜드 약칭(SK·GS·HD) 표시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→ 면적 작은 시도(서울·광주) 보완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347472" cy="347472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3191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클릭 팝업 순위표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0432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시도 클릭 시 전체 브랜드 순위 + 점유율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가로 막대 바로 시각화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347472" cy="347472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968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연도 선택 패널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70432" y="4206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2018–2021년 전환 가능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기본값 2021년, LayerControl 활용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</a:rPr>
              <a:t>2021년 시도별 1등 브랜드 (주요 지역)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1572768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2352" y="1627632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6276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서울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SK에너지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1627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32.1%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1975104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2352" y="2029968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경기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SK에너지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2029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29.8%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2377440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432304"/>
            <a:ext cx="219456" cy="21945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4323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부산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GS칼텍스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72400" y="24323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57B9D"/>
                </a:solidFill>
              </a:rPr>
              <a:t>27.4%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83480" y="2779776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02352" y="2834640"/>
            <a:ext cx="219456" cy="21945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8346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대구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현대오일뱅크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72400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30.2%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83480" y="3182112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02352" y="323697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32369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인천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80760" y="32369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SK에너지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72400" y="32369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28.5%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83480" y="3584448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02352" y="3639312"/>
            <a:ext cx="219456" cy="21945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6393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강원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80760" y="3639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GS칼텍스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772400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57B9D"/>
                </a:solidFill>
              </a:rPr>
              <a:t>26.9%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83480" y="3986784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02352" y="4041648"/>
            <a:ext cx="219456" cy="21945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40416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경남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080760" y="40416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GS칼텍스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72400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57B9D"/>
                </a:solidFill>
              </a:rPr>
              <a:t>28.1%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83480" y="4389120"/>
            <a:ext cx="3749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02352" y="4443984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4443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</a:rPr>
              <a:t>제주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80760" y="4443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SK에너지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72400" y="4443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31.0%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전략적 시사점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7AAA"/>
                </a:solidFill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16152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소비자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셀프 이용으로 연간 약 20,000원 절감 가능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알뜰주유소 선택 시 추가 절감 (브랜드 격차 약 50–80원/L)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서울·제주 거주자는 구조적 고가 환경 — 셀프 이용 더욱 중요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1615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59552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정유사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8013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SK에너지 점유율 4년간 지속 하락 — 브랜드 가치·로열티 전략 재검토 필요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알뜰계열 확대에 대응한 프리미엄 서비스 차별화 전략 요구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현대오일뱅크 소폭 상승 — 가격 경쟁력 + 네트워크 확장 효과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27832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</a:rPr>
              <a:t>정책 입안자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8130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서울·제주 가격 프리미엄은 단순 규제보다 경쟁 구조 개선으로 접근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알뜰주유소 확대 정책이 실질적 소비자 가격 인하에 기여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지역별 가격 격차 모니터링 — 구조적 불균등 심화 여부 추적 필요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27832"/>
            <a:ext cx="502920" cy="502920"/>
          </a:xfrm>
          <a:prstGeom prst="ellipse">
            <a:avLst/>
          </a:prstGeom>
          <a:solidFill>
            <a:srgbClr val="3A5A8C"/>
          </a:solidFill>
          <a:ln w="12700">
            <a:solidFill>
              <a:srgbClr val="3A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A8C"/>
                </a:solidFill>
              </a:rPr>
              <a:t>창업자 / 투자자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130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알뜰계열 가맹 전략 vs 고마진 지역(서울) 입점 전략 양극화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셀프 비중 지속 확대 추세 — 신규 주유소는 셀프 방식 우선 고려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</a:rPr>
              <a:t>지역별 브랜드 세력권 분석으로 공백 시장 입점 기회 탐색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핵심 메시지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피라미드 원리 기반 — 핵심 주장 → 근거 3개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한국 주유소 휘발유 가격은 2020년 코로나 저점을 경유하며 반등했으며,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브랜드·셀프 여부·거주 지역에 따른 가격 불균등은 구조적·지속적으로 유지된다.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2E4272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연도별 가격 동향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2020년 코로나 충격 저점(1,268원)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→ 2021년 반등(1,553원)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표준편차도 동반 축소·확대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395728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2E4272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브랜드·셀프 구조적 격차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ANOVA η²=0.10 — 브랜드 10% 설명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셀프 할인 28원/L 4년간 안정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SK 점유율 하락, 알뜰계열 상승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395728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2E4272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지역별 불균등 구조화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지역 η²=0.15 — 지역 15% 설명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서울+77원, 제주+38원 프리미엄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</a:rPr>
              <a:t>저유가 시기에도 격차 유지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데이터 출처: 한국석유공사 Opinet / 분석 기간: 2018–2021년 6월 1일–7일 / 분석 단위: 주유소×연도 45,809건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 주유소 시장 구조 분석</dc:title>
  <dc:subject>PptxGenJS Presentation</dc:subject>
  <dc:creator>PptxGenJS</dc:creator>
  <cp:lastModifiedBy>PptxGenJS</cp:lastModifiedBy>
  <cp:revision>1</cp:revision>
  <dcterms:created xsi:type="dcterms:W3CDTF">2026-06-23T02:38:06Z</dcterms:created>
  <dcterms:modified xsi:type="dcterms:W3CDTF">2026-06-23T02:38:06Z</dcterms:modified>
</cp:coreProperties>
</file>